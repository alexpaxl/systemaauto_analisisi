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5143500" cy="9144000"/>
  <p:embeddedFontLst>
    <p:embeddedFont>
      <p:font typeface="Inter" panose="020B0604020202020204" charset="0"/>
      <p:regular r:id="rId14"/>
    </p:embeddedFont>
    <p:embeddedFont>
      <p:font typeface="Inter Bold" panose="020B0604020202020204" charset="0"/>
      <p:regular r:id="rId15"/>
    </p:embeddedFont>
  </p:embeddedFontLst>
  <p:defaultTextStyle>
    <a:defPPr>
      <a:defRPr lang="es-419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0675520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6C83E-2251-63D1-B67A-EA653B9246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FE538E-D7D4-CF12-EBA6-60CFD39DF8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F177B7-624D-748A-1E2E-0A6F69C74A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B10A07-7196-F61A-0514-ADDE1E52BC3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029554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hyperlink" Target="https://gamma.app/?utm_source=made-with-gamma" TargetMode="Externa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6F4F4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4" name="Image 0" descr="preencoded.png">
            <a:hlinkClick r:id="rId2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9180" y="4844491"/>
            <a:ext cx="1071843" cy="256032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8.xml"/><Relationship Id="rId5" Type="http://schemas.openxmlformats.org/officeDocument/2006/relationships/image" Target="../media/image10.svg"/><Relationship Id="rId4" Type="http://schemas.openxmlformats.org/officeDocument/2006/relationships/image" Target="../media/image9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1.xml"/><Relationship Id="rId4" Type="http://schemas.openxmlformats.org/officeDocument/2006/relationships/hyperlink" Target="https://github.com/AlexPAXL/SystemaAuto_Analisisi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DADBF1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842" y="106263"/>
            <a:ext cx="3287316" cy="493097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96119" y="1662410"/>
            <a:ext cx="2355354" cy="266402"/>
          </a:xfrm>
          <a:prstGeom prst="roundRect">
            <a:avLst>
              <a:gd name="adj" fmla="val 17880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5" name="Text 2"/>
          <p:cNvSpPr/>
          <p:nvPr/>
        </p:nvSpPr>
        <p:spPr>
          <a:xfrm>
            <a:off x="581174" y="1704901"/>
            <a:ext cx="2642443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PROYECTO INTEGRADOR · UMG COBÁN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496119" y="1985516"/>
            <a:ext cx="4001319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AcademicFlow v1.0</a:t>
            </a:r>
            <a:endParaRPr lang="en-US" sz="2750" dirty="0"/>
          </a:p>
        </p:txBody>
      </p:sp>
      <p:sp>
        <p:nvSpPr>
          <p:cNvPr id="7" name="Text 4"/>
          <p:cNvSpPr/>
          <p:nvPr/>
        </p:nvSpPr>
        <p:spPr>
          <a:xfrm>
            <a:off x="496119" y="2641104"/>
            <a:ext cx="4722763" cy="839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Sistema de Automatización Académica con </a:t>
            </a:r>
            <a:r>
              <a:rPr lang="en-US" sz="110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n8n · Docker · PostgreSQL</a:t>
            </a:r>
            <a:endParaRPr lang="en-US" sz="1100" dirty="0"/>
          </a:p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Wilder Alejandro Poou Xol · Ingeniería en Sistemas · 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80640" y="425202"/>
            <a:ext cx="1622301" cy="264765"/>
          </a:xfrm>
          <a:prstGeom prst="roundRect">
            <a:avLst>
              <a:gd name="adj" fmla="val 17429"/>
            </a:avLst>
          </a:prstGeom>
          <a:noFill/>
          <a:ln w="4763">
            <a:solidFill>
              <a:srgbClr val="4950BC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" name="Text 1"/>
          <p:cNvSpPr/>
          <p:nvPr/>
        </p:nvSpPr>
        <p:spPr>
          <a:xfrm>
            <a:off x="567779" y="471115"/>
            <a:ext cx="1905223" cy="1729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850" dirty="0">
                <a:solidFill>
                  <a:srgbClr val="4950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PRESENTACIÓN PERSONAL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80640" y="743173"/>
            <a:ext cx="5960641" cy="42914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¿Quién está detrás del proyecto?</a:t>
            </a:r>
            <a:endParaRPr lang="en-US" sz="27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0640" y="1721941"/>
            <a:ext cx="2646164" cy="264616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3466579" y="1504801"/>
            <a:ext cx="2173858" cy="2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Perfil del Estudiante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3466579" y="1852315"/>
            <a:ext cx="5201469" cy="6489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Estudiante de Ingeniería en Sistemas, UMG Campus Cobán, plan fin de semana. Interés en el desarrollo tanto profesional como intelectual, interesado 100% en la tecnología.</a:t>
            </a:r>
            <a:endParaRPr lang="en-US" sz="1050" dirty="0"/>
          </a:p>
        </p:txBody>
      </p:sp>
      <p:sp>
        <p:nvSpPr>
          <p:cNvPr id="8" name="Text 5"/>
          <p:cNvSpPr/>
          <p:nvPr/>
        </p:nvSpPr>
        <p:spPr>
          <a:xfrm>
            <a:off x="3466579" y="2634258"/>
            <a:ext cx="2173858" cy="2145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Estado Inicial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3466579" y="2981771"/>
            <a:ext cx="5201469" cy="43264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Conocimientos básicos de SQL, php, C#, Java, GIT, HTML entre otros. </a:t>
            </a:r>
            <a:r>
              <a:rPr lang="en-US" sz="10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n8n, Docker y contenedores eran completamente nuevos</a:t>
            </a: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al inicio del proyecto.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466579" y="3564062"/>
            <a:ext cx="5201469" cy="1004590"/>
          </a:xfrm>
          <a:prstGeom prst="roundRect">
            <a:avLst>
              <a:gd name="adj" fmla="val 5742"/>
            </a:avLst>
          </a:prstGeom>
          <a:solidFill>
            <a:srgbClr val="B6D6FC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03873" y="3772644"/>
            <a:ext cx="171599" cy="137294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912766" y="3731344"/>
            <a:ext cx="4617988" cy="64896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1000"/>
              </a:lnSpc>
              <a:buNone/>
            </a:pPr>
            <a:r>
              <a:rPr lang="en-US" sz="105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Este proyecto representó el primer acercamiento formal a automatización de flujos, infraestructura como código y despliegue con Docker.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DADBF1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85842" y="106263"/>
            <a:ext cx="3287316" cy="4930973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96119" y="479599"/>
            <a:ext cx="1826716" cy="266402"/>
          </a:xfrm>
          <a:prstGeom prst="roundRect">
            <a:avLst>
              <a:gd name="adj" fmla="val 17880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5" name="Text 2"/>
          <p:cNvSpPr/>
          <p:nvPr/>
        </p:nvSpPr>
        <p:spPr>
          <a:xfrm>
            <a:off x="581174" y="522089"/>
            <a:ext cx="2113806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DESCRIPCIÓN DEL PROYECTO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496119" y="802704"/>
            <a:ext cx="4722763" cy="88597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¿Qué problema resuelve AcademicFlow?</a:t>
            </a:r>
            <a:endParaRPr lang="en-US" sz="2750" dirty="0"/>
          </a:p>
        </p:txBody>
      </p:sp>
      <p:sp>
        <p:nvSpPr>
          <p:cNvPr id="7" name="Shape 4"/>
          <p:cNvSpPr/>
          <p:nvPr/>
        </p:nvSpPr>
        <p:spPr>
          <a:xfrm>
            <a:off x="496119" y="1901279"/>
            <a:ext cx="4722763" cy="826368"/>
          </a:xfrm>
          <a:prstGeom prst="roundRect">
            <a:avLst>
              <a:gd name="adj" fmla="val 7205"/>
            </a:avLst>
          </a:prstGeom>
          <a:solidFill>
            <a:srgbClr val="DADBF1"/>
          </a:solidFill>
          <a:ln w="4763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8" name="Text 5"/>
          <p:cNvSpPr/>
          <p:nvPr/>
        </p:nvSpPr>
        <p:spPr>
          <a:xfrm>
            <a:off x="642640" y="2047801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Asistencia dispersa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642640" y="2354312"/>
            <a:ext cx="442972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Registro manual en CSV para el cargo de registros sistematizados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6119" y="2869406"/>
            <a:ext cx="4722763" cy="826368"/>
          </a:xfrm>
          <a:prstGeom prst="roundRect">
            <a:avLst>
              <a:gd name="adj" fmla="val 7205"/>
            </a:avLst>
          </a:prstGeom>
          <a:solidFill>
            <a:srgbClr val="DADBF1"/>
          </a:solidFill>
          <a:ln w="4763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1" name="Text 8"/>
          <p:cNvSpPr/>
          <p:nvPr/>
        </p:nvSpPr>
        <p:spPr>
          <a:xfrm>
            <a:off x="642640" y="3015928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Con alertas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642640" y="3322439"/>
            <a:ext cx="442972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 notificaciones automáticas para calificaciones &lt; 60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6119" y="3837533"/>
            <a:ext cx="4722763" cy="826368"/>
          </a:xfrm>
          <a:prstGeom prst="roundRect">
            <a:avLst>
              <a:gd name="adj" fmla="val 7205"/>
            </a:avLst>
          </a:prstGeom>
          <a:solidFill>
            <a:srgbClr val="DADBF1"/>
          </a:solidFill>
          <a:ln w="4763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4" name="Text 11"/>
          <p:cNvSpPr/>
          <p:nvPr/>
        </p:nvSpPr>
        <p:spPr>
          <a:xfrm>
            <a:off x="642640" y="3984054"/>
            <a:ext cx="1772022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Reportes</a:t>
            </a:r>
            <a:endParaRPr lang="en-US" sz="1350" dirty="0"/>
          </a:p>
        </p:txBody>
      </p:sp>
      <p:sp>
        <p:nvSpPr>
          <p:cNvPr id="15" name="Text 12"/>
          <p:cNvSpPr/>
          <p:nvPr/>
        </p:nvSpPr>
        <p:spPr>
          <a:xfrm>
            <a:off x="642640" y="4290566"/>
            <a:ext cx="4429720" cy="22681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Sin reportes consolidados generados periódicamente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7336" y="325041"/>
            <a:ext cx="1410816" cy="197197"/>
          </a:xfrm>
          <a:prstGeom prst="roundRect">
            <a:avLst>
              <a:gd name="adj" fmla="val 18494"/>
            </a:avLst>
          </a:prstGeom>
          <a:noFill/>
          <a:ln w="4763">
            <a:solidFill>
              <a:srgbClr val="4950BC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" name="Text 1"/>
          <p:cNvSpPr/>
          <p:nvPr/>
        </p:nvSpPr>
        <p:spPr>
          <a:xfrm>
            <a:off x="897210" y="362322"/>
            <a:ext cx="1728267" cy="12263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8000"/>
              </a:lnSpc>
              <a:buNone/>
            </a:pPr>
            <a:r>
              <a:rPr lang="en-US" sz="650" dirty="0">
                <a:solidFill>
                  <a:srgbClr val="4950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ARQUITECTURA DEL SISTEMA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827336" y="555427"/>
            <a:ext cx="4484563" cy="33917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1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Componentes y Flujo Principal</a:t>
            </a:r>
            <a:endParaRPr lang="en-US" sz="210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336" y="1112713"/>
            <a:ext cx="3612207" cy="3612207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709071" y="2378273"/>
            <a:ext cx="2051000" cy="16951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0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Flujo de funcionamiento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4709071" y="2630835"/>
            <a:ext cx="3612207" cy="882551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18000"/>
              </a:lnSpc>
              <a:buSzPct val="100000"/>
              <a:buFont typeface="+mj-lt"/>
              <a:buAutoNum type="arabicPeriod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profesor carga CSV de asistencia desde la web app</a:t>
            </a:r>
            <a:endParaRPr lang="en-US" sz="850" dirty="0"/>
          </a:p>
          <a:p>
            <a:pPr marL="342900" indent="-342900" algn="l">
              <a:lnSpc>
                <a:spcPct val="118000"/>
              </a:lnSpc>
              <a:buSzPct val="100000"/>
              <a:buFont typeface="+mj-lt"/>
              <a:buAutoNum type="arabicPeriod" startAt="2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n8n valida y procesa datos vía webhook (WF7)</a:t>
            </a:r>
            <a:endParaRPr lang="en-US" sz="850" dirty="0"/>
          </a:p>
          <a:p>
            <a:pPr marL="342900" indent="-342900" algn="l">
              <a:lnSpc>
                <a:spcPct val="118000"/>
              </a:lnSpc>
              <a:buSzPct val="100000"/>
              <a:buFont typeface="+mj-lt"/>
              <a:buAutoNum type="arabicPeriod" startAt="3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Los registros se insertan en PostgreSQL</a:t>
            </a:r>
            <a:endParaRPr lang="en-US" sz="850" dirty="0"/>
          </a:p>
          <a:p>
            <a:pPr marL="342900" indent="-342900" algn="l">
              <a:lnSpc>
                <a:spcPct val="118000"/>
              </a:lnSpc>
              <a:buSzPct val="100000"/>
              <a:buFont typeface="+mj-lt"/>
              <a:buAutoNum type="arabicPeriod" startAt="4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WF3 genera reportes HTML semanales por email</a:t>
            </a:r>
            <a:endParaRPr lang="en-US" sz="850" dirty="0"/>
          </a:p>
          <a:p>
            <a:pPr marL="342900" indent="-342900" algn="l">
              <a:lnSpc>
                <a:spcPct val="118000"/>
              </a:lnSpc>
              <a:buSzPct val="100000"/>
              <a:buFont typeface="+mj-lt"/>
              <a:buAutoNum type="arabicPeriod" startAt="5"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WF4 notifica automáticamente si calificación &lt; 60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2901" y="430039"/>
            <a:ext cx="1333723" cy="249882"/>
          </a:xfrm>
          <a:prstGeom prst="roundRect">
            <a:avLst>
              <a:gd name="adj" fmla="val 18169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Text 1"/>
          <p:cNvSpPr/>
          <p:nvPr/>
        </p:nvSpPr>
        <p:spPr>
          <a:xfrm>
            <a:off x="553938" y="470520"/>
            <a:ext cx="1628849" cy="1689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 TECNOLÓGICO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72901" y="731416"/>
            <a:ext cx="6783586" cy="42230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6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Herramientas y Tecnologías Utilizadas</a:t>
            </a:r>
            <a:endParaRPr lang="en-US" sz="2650" dirty="0"/>
          </a:p>
        </p:txBody>
      </p:sp>
      <p:sp>
        <p:nvSpPr>
          <p:cNvPr id="5" name="Shape 3"/>
          <p:cNvSpPr/>
          <p:nvPr/>
        </p:nvSpPr>
        <p:spPr>
          <a:xfrm>
            <a:off x="472901" y="1346895"/>
            <a:ext cx="8198197" cy="3010495"/>
          </a:xfrm>
          <a:prstGeom prst="roundRect">
            <a:avLst>
              <a:gd name="adj" fmla="val 1885"/>
            </a:avLst>
          </a:prstGeom>
          <a:noFill/>
          <a:ln w="4763">
            <a:solidFill>
              <a:srgbClr val="000000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6" name="Shape 4"/>
          <p:cNvSpPr/>
          <p:nvPr/>
        </p:nvSpPr>
        <p:spPr>
          <a:xfrm>
            <a:off x="477664" y="1351657"/>
            <a:ext cx="8188672" cy="37512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7" name="Text 5"/>
          <p:cNvSpPr/>
          <p:nvPr/>
        </p:nvSpPr>
        <p:spPr>
          <a:xfrm>
            <a:off x="612800" y="1433661"/>
            <a:ext cx="2641253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Tecnología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071738" y="1433661"/>
            <a:ext cx="1820019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Versión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709443" y="1433661"/>
            <a:ext cx="4279032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Uso en el proyecto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77664" y="1726778"/>
            <a:ext cx="8188672" cy="37512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11" name="Text 9"/>
          <p:cNvSpPr/>
          <p:nvPr/>
        </p:nvSpPr>
        <p:spPr>
          <a:xfrm>
            <a:off x="612800" y="1808783"/>
            <a:ext cx="2641253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n8n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071738" y="1808783"/>
            <a:ext cx="1820019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latest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4709443" y="1808783"/>
            <a:ext cx="4279032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workflows automatizados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7664" y="2101900"/>
            <a:ext cx="8188672" cy="37512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15" name="Text 13"/>
          <p:cNvSpPr/>
          <p:nvPr/>
        </p:nvSpPr>
        <p:spPr>
          <a:xfrm>
            <a:off x="612800" y="2183904"/>
            <a:ext cx="2641253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Docker Compose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071738" y="2183904"/>
            <a:ext cx="1820019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v2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4709443" y="2183904"/>
            <a:ext cx="4279032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Orquestación de 5 servicios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477664" y="2477021"/>
            <a:ext cx="8188672" cy="37512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19" name="Text 17"/>
          <p:cNvSpPr/>
          <p:nvPr/>
        </p:nvSpPr>
        <p:spPr>
          <a:xfrm>
            <a:off x="612800" y="2559025"/>
            <a:ext cx="2641253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071738" y="2559025"/>
            <a:ext cx="1820019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15-alpine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709443" y="2559025"/>
            <a:ext cx="4279032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tablas, 3 vistas, índices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477664" y="2852142"/>
            <a:ext cx="8188672" cy="37512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23" name="Text 21"/>
          <p:cNvSpPr/>
          <p:nvPr/>
        </p:nvSpPr>
        <p:spPr>
          <a:xfrm>
            <a:off x="612800" y="2934146"/>
            <a:ext cx="2641253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nginx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071738" y="2934146"/>
            <a:ext cx="1820019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1.25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09443" y="2934146"/>
            <a:ext cx="4279032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Proxy inverso + servidor web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477664" y="3227263"/>
            <a:ext cx="8188672" cy="37512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27" name="Text 25"/>
          <p:cNvSpPr/>
          <p:nvPr/>
        </p:nvSpPr>
        <p:spPr>
          <a:xfrm>
            <a:off x="612800" y="3309268"/>
            <a:ext cx="2641253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Mailhog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071738" y="3309268"/>
            <a:ext cx="1820019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v1.0.1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4709443" y="3309268"/>
            <a:ext cx="4279032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SMTP local para pruebas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77664" y="3602385"/>
            <a:ext cx="8188672" cy="375121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1" name="Text 29"/>
          <p:cNvSpPr/>
          <p:nvPr/>
        </p:nvSpPr>
        <p:spPr>
          <a:xfrm>
            <a:off x="612800" y="3684389"/>
            <a:ext cx="2641253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HTML5 / CSS3 / JS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3071738" y="3684389"/>
            <a:ext cx="1820019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ES2022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4709443" y="3684389"/>
            <a:ext cx="4279032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 sin frameworks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7664" y="3977506"/>
            <a:ext cx="8188672" cy="375121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5" name="Text 33"/>
          <p:cNvSpPr/>
          <p:nvPr/>
        </p:nvSpPr>
        <p:spPr>
          <a:xfrm>
            <a:off x="612800" y="4059510"/>
            <a:ext cx="2641253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Git</a:t>
            </a:r>
            <a:endParaRPr lang="en-US" sz="1050" dirty="0"/>
          </a:p>
        </p:txBody>
      </p:sp>
      <p:sp>
        <p:nvSpPr>
          <p:cNvPr id="36" name="Text 34"/>
          <p:cNvSpPr/>
          <p:nvPr/>
        </p:nvSpPr>
        <p:spPr>
          <a:xfrm>
            <a:off x="3071738" y="4059510"/>
            <a:ext cx="1820019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2.x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4709443" y="4059510"/>
            <a:ext cx="4279032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 de versiones</a:t>
            </a:r>
            <a:endParaRPr lang="en-US" sz="1050" dirty="0"/>
          </a:p>
        </p:txBody>
      </p:sp>
      <p:sp>
        <p:nvSpPr>
          <p:cNvPr id="38" name="Text 36"/>
          <p:cNvSpPr/>
          <p:nvPr/>
        </p:nvSpPr>
        <p:spPr>
          <a:xfrm>
            <a:off x="472901" y="4502274"/>
            <a:ext cx="8655397" cy="21111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0000"/>
              </a:lnSpc>
              <a:buNone/>
            </a:pPr>
            <a:r>
              <a:rPr lang="en-US" sz="10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Recursos: documentación oficial de n8n, Docker, PostgreSQL 15; Stack Overflow; principios 12-Factor App.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45219" y="365075"/>
            <a:ext cx="1581373" cy="222349"/>
          </a:xfrm>
          <a:prstGeom prst="roundRect">
            <a:avLst>
              <a:gd name="adj" fmla="val 18076"/>
            </a:avLst>
          </a:prstGeom>
          <a:noFill/>
          <a:ln w="4763">
            <a:solidFill>
              <a:srgbClr val="4950BC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" name="Text 1"/>
          <p:cNvSpPr/>
          <p:nvPr/>
        </p:nvSpPr>
        <p:spPr>
          <a:xfrm>
            <a:off x="521717" y="405705"/>
            <a:ext cx="1885578" cy="14108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750" dirty="0">
                <a:solidFill>
                  <a:srgbClr val="4950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EXPERIENCIA DE DESARROLLO</a:t>
            </a:r>
            <a:endParaRPr lang="en-US" sz="750" dirty="0"/>
          </a:p>
        </p:txBody>
      </p:sp>
      <p:sp>
        <p:nvSpPr>
          <p:cNvPr id="4" name="Text 2"/>
          <p:cNvSpPr/>
          <p:nvPr/>
        </p:nvSpPr>
        <p:spPr>
          <a:xfrm>
            <a:off x="445219" y="627757"/>
            <a:ext cx="4062264" cy="37378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Las 4 Fases del Proyecto</a:t>
            </a:r>
            <a:endParaRPr lang="en-US" sz="2350" dirty="0"/>
          </a:p>
        </p:txBody>
      </p:sp>
      <p:sp>
        <p:nvSpPr>
          <p:cNvPr id="5" name="Shape 3"/>
          <p:cNvSpPr/>
          <p:nvPr/>
        </p:nvSpPr>
        <p:spPr>
          <a:xfrm>
            <a:off x="4564782" y="1152897"/>
            <a:ext cx="14288" cy="2878038"/>
          </a:xfrm>
          <a:prstGeom prst="roundRect">
            <a:avLst>
              <a:gd name="adj" fmla="val 351616"/>
            </a:avLst>
          </a:prstGeom>
          <a:solidFill>
            <a:srgbClr val="C0C1D7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6" name="Shape 4"/>
          <p:cNvSpPr/>
          <p:nvPr/>
        </p:nvSpPr>
        <p:spPr>
          <a:xfrm>
            <a:off x="4092848" y="1280294"/>
            <a:ext cx="358825" cy="14288"/>
          </a:xfrm>
          <a:prstGeom prst="roundRect">
            <a:avLst>
              <a:gd name="adj" fmla="val 351616"/>
            </a:avLst>
          </a:prstGeom>
          <a:solidFill>
            <a:srgbClr val="C0C1D7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7" name="Shape 5"/>
          <p:cNvSpPr/>
          <p:nvPr/>
        </p:nvSpPr>
        <p:spPr>
          <a:xfrm>
            <a:off x="4437385" y="1152897"/>
            <a:ext cx="269081" cy="269081"/>
          </a:xfrm>
          <a:prstGeom prst="roundRect">
            <a:avLst>
              <a:gd name="adj" fmla="val 18671"/>
            </a:avLst>
          </a:prstGeom>
          <a:solidFill>
            <a:srgbClr val="DADBF1"/>
          </a:solidFill>
          <a:ln w="4763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8" name="Text 6"/>
          <p:cNvSpPr/>
          <p:nvPr/>
        </p:nvSpPr>
        <p:spPr>
          <a:xfrm>
            <a:off x="4482219" y="1175333"/>
            <a:ext cx="179412" cy="2242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478658" y="1193974"/>
            <a:ext cx="1495202" cy="1868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Fase 1 — Semana 1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445219" y="1441326"/>
            <a:ext cx="3528640" cy="352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Planificación y diseño de arquitectura. Investigación de n8n, Docker Compose y base de datos.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4692179" y="1960513"/>
            <a:ext cx="358825" cy="14288"/>
          </a:xfrm>
          <a:prstGeom prst="roundRect">
            <a:avLst>
              <a:gd name="adj" fmla="val 351616"/>
            </a:avLst>
          </a:prstGeom>
          <a:solidFill>
            <a:srgbClr val="C0C1D7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12" name="Shape 10"/>
          <p:cNvSpPr/>
          <p:nvPr/>
        </p:nvSpPr>
        <p:spPr>
          <a:xfrm>
            <a:off x="4437385" y="1833116"/>
            <a:ext cx="269081" cy="269081"/>
          </a:xfrm>
          <a:prstGeom prst="roundRect">
            <a:avLst>
              <a:gd name="adj" fmla="val 18671"/>
            </a:avLst>
          </a:prstGeom>
          <a:solidFill>
            <a:srgbClr val="DADBF1"/>
          </a:solidFill>
          <a:ln w="4763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3" name="Text 11"/>
          <p:cNvSpPr/>
          <p:nvPr/>
        </p:nvSpPr>
        <p:spPr>
          <a:xfrm>
            <a:off x="4482219" y="1855552"/>
            <a:ext cx="179412" cy="2242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169991" y="1874193"/>
            <a:ext cx="1662857" cy="1868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Fase 2 — Semanas 2-3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169991" y="2121545"/>
            <a:ext cx="3528715" cy="352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Configuración del entorno. La fase más frustrante: errores de Docker en Windows + OneDrive.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092848" y="2560365"/>
            <a:ext cx="358825" cy="14288"/>
          </a:xfrm>
          <a:prstGeom prst="roundRect">
            <a:avLst>
              <a:gd name="adj" fmla="val 351616"/>
            </a:avLst>
          </a:prstGeom>
          <a:solidFill>
            <a:srgbClr val="C0C1D7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17" name="Shape 15"/>
          <p:cNvSpPr/>
          <p:nvPr/>
        </p:nvSpPr>
        <p:spPr>
          <a:xfrm>
            <a:off x="4437385" y="2432968"/>
            <a:ext cx="269081" cy="269081"/>
          </a:xfrm>
          <a:prstGeom prst="roundRect">
            <a:avLst>
              <a:gd name="adj" fmla="val 18671"/>
            </a:avLst>
          </a:prstGeom>
          <a:solidFill>
            <a:srgbClr val="DADBF1"/>
          </a:solidFill>
          <a:ln w="4763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18" name="Text 16"/>
          <p:cNvSpPr/>
          <p:nvPr/>
        </p:nvSpPr>
        <p:spPr>
          <a:xfrm>
            <a:off x="4482219" y="2455404"/>
            <a:ext cx="179412" cy="2242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300883" y="2474044"/>
            <a:ext cx="1672977" cy="1868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r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Fase 3 — Semanas 3-4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445219" y="2721397"/>
            <a:ext cx="3528640" cy="352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r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Desarrollo de los 8 workflows en n8n. Primer email en Mailhog: momento clave.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692179" y="3160291"/>
            <a:ext cx="358825" cy="14288"/>
          </a:xfrm>
          <a:prstGeom prst="roundRect">
            <a:avLst>
              <a:gd name="adj" fmla="val 351616"/>
            </a:avLst>
          </a:prstGeom>
          <a:solidFill>
            <a:srgbClr val="C0C1D7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22" name="Shape 20"/>
          <p:cNvSpPr/>
          <p:nvPr/>
        </p:nvSpPr>
        <p:spPr>
          <a:xfrm>
            <a:off x="4437385" y="3032894"/>
            <a:ext cx="269081" cy="269081"/>
          </a:xfrm>
          <a:prstGeom prst="roundRect">
            <a:avLst>
              <a:gd name="adj" fmla="val 18671"/>
            </a:avLst>
          </a:prstGeom>
          <a:solidFill>
            <a:srgbClr val="DADBF1"/>
          </a:solidFill>
          <a:ln w="4763">
            <a:solidFill>
              <a:srgbClr val="C0C1D7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23" name="Text 21"/>
          <p:cNvSpPr/>
          <p:nvPr/>
        </p:nvSpPr>
        <p:spPr>
          <a:xfrm>
            <a:off x="4482219" y="3055330"/>
            <a:ext cx="179412" cy="22421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marL="0" indent="0" algn="ctr">
              <a:lnSpc>
                <a:spcPct val="100000"/>
              </a:lnSpc>
              <a:buNone/>
            </a:pPr>
            <a:r>
              <a:rPr lang="en-US" sz="1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169991" y="3073971"/>
            <a:ext cx="1674019" cy="18685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Fase 4 — Semanas 4-5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169991" y="3321323"/>
            <a:ext cx="3528715" cy="352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Integración web app + n8n vía webhooks. Pruebas end-to-end exitosas.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45219" y="4144417"/>
            <a:ext cx="8253487" cy="634008"/>
          </a:xfrm>
          <a:prstGeom prst="roundRect">
            <a:avLst>
              <a:gd name="adj" fmla="val 7924"/>
            </a:avLst>
          </a:prstGeom>
          <a:solidFill>
            <a:srgbClr val="FCF2B5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2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4803" y="4317727"/>
            <a:ext cx="149498" cy="119583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833884" y="4275162"/>
            <a:ext cx="7745239" cy="3527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23000"/>
              </a:lnSpc>
              <a:buNone/>
            </a:pPr>
            <a:r>
              <a:rPr lang="en-US" sz="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Lección clave:</a:t>
            </a:r>
            <a:r>
              <a:rPr lang="en-US" sz="9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En Windows, los proyectos Docker </a:t>
            </a:r>
            <a:r>
              <a:rPr lang="en-US" sz="900" b="1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</a:t>
            </a:r>
            <a:r>
              <a:rPr lang="en-US" sz="9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deben estar en carpetas sincronizadas con OneDrive. Genera problemas de permisos y bind mounts muy difíciles de diagnosticar.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DADBF1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76987" y="92943"/>
            <a:ext cx="3305026" cy="4957539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434132" y="510480"/>
            <a:ext cx="1486942" cy="223317"/>
          </a:xfrm>
          <a:prstGeom prst="roundRect">
            <a:avLst>
              <a:gd name="adj" fmla="val 18664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5" name="Text 2"/>
          <p:cNvSpPr/>
          <p:nvPr/>
        </p:nvSpPr>
        <p:spPr>
          <a:xfrm>
            <a:off x="508546" y="547688"/>
            <a:ext cx="1795314" cy="14890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25000"/>
              </a:lnSpc>
              <a:buNone/>
            </a:pPr>
            <a:r>
              <a:rPr lang="en-US" sz="7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APRENDIZAJES OBTENIDOS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434132" y="777180"/>
            <a:ext cx="5293668" cy="38754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4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 que aprendí en este proyecto</a:t>
            </a:r>
            <a:endParaRPr lang="en-US" sz="2400" dirty="0"/>
          </a:p>
        </p:txBody>
      </p:sp>
      <p:pic>
        <p:nvPicPr>
          <p:cNvPr id="7" name="Image 1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19844" y="1327472"/>
            <a:ext cx="4861024" cy="1803499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5255" y="1465734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Técnicos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615255" y="1724695"/>
            <a:ext cx="4527352" cy="126801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Contenedores Docker: redes internas, volúmenes persistentes, diferencias con VMs</a:t>
            </a:r>
            <a:endParaRPr lang="en-US" sz="95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n8n: workflows con triggers, nodos IF, consultas SQL y envío de emails</a:t>
            </a:r>
            <a:endParaRPr lang="en-US" sz="95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PostgreSQL: esquema relacional con 6 tablas, vistas e índices</a:t>
            </a:r>
            <a:endParaRPr lang="en-US" sz="95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Variables de entorno: secretos en .env, nunca hardcodeados</a:t>
            </a:r>
            <a:endParaRPr lang="en-US" sz="95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Webhooks, APIs REST y nginx como proxy inverso</a:t>
            </a:r>
            <a:endParaRPr lang="en-US" sz="950" dirty="0"/>
          </a:p>
        </p:txBody>
      </p:sp>
      <p:pic>
        <p:nvPicPr>
          <p:cNvPr id="10" name="Image 2" descr="preencoded.pn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19844" y="3239467"/>
            <a:ext cx="4861024" cy="1393478"/>
          </a:xfrm>
          <a:prstGeom prst="rect">
            <a:avLst/>
          </a:prstGeom>
        </p:spPr>
      </p:pic>
      <p:sp>
        <p:nvSpPr>
          <p:cNvPr id="11" name="Text 6"/>
          <p:cNvSpPr/>
          <p:nvPr/>
        </p:nvSpPr>
        <p:spPr>
          <a:xfrm>
            <a:off x="615255" y="3377729"/>
            <a:ext cx="1550566" cy="19384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2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No Técnicos</a:t>
            </a:r>
            <a:endParaRPr lang="en-US" sz="1200" dirty="0"/>
          </a:p>
        </p:txBody>
      </p:sp>
      <p:sp>
        <p:nvSpPr>
          <p:cNvPr id="12" name="Text 7"/>
          <p:cNvSpPr/>
          <p:nvPr/>
        </p:nvSpPr>
        <p:spPr>
          <a:xfrm>
            <a:off x="615255" y="3636690"/>
            <a:ext cx="4527352" cy="85799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Diagnóstico sistemático: leer logs y encontrar causa raíz</a:t>
            </a:r>
            <a:endParaRPr lang="en-US" sz="95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Paciencia y persistencia ante errores complejos</a:t>
            </a:r>
            <a:endParaRPr lang="en-US" sz="95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Documentación técnica como herramienta de trabajo</a:t>
            </a:r>
            <a:endParaRPr lang="en-US" sz="950" dirty="0"/>
          </a:p>
          <a:p>
            <a:pPr marL="342900" indent="-342900" algn="l">
              <a:lnSpc>
                <a:spcPct val="125000"/>
              </a:lnSpc>
              <a:buSzPct val="100000"/>
              <a:buChar char="•"/>
            </a:pPr>
            <a:r>
              <a:rPr lang="en-US" sz="9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Gestión de versiones con Git y Conventional Commits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513457"/>
            <a:ext cx="1218977" cy="275927"/>
          </a:xfrm>
          <a:prstGeom prst="roundRect">
            <a:avLst>
              <a:gd name="adj" fmla="val 17263"/>
            </a:avLst>
          </a:prstGeom>
          <a:noFill/>
          <a:ln w="4763">
            <a:solidFill>
              <a:srgbClr val="4950BC"/>
            </a:solidFill>
            <a:prstDash val="solid"/>
          </a:ln>
        </p:spPr>
        <p:txBody>
          <a:bodyPr/>
          <a:lstStyle/>
          <a:p>
            <a:endParaRPr lang="es-419"/>
          </a:p>
        </p:txBody>
      </p:sp>
      <p:sp>
        <p:nvSpPr>
          <p:cNvPr id="3" name="Text 1"/>
          <p:cNvSpPr/>
          <p:nvPr/>
        </p:nvSpPr>
        <p:spPr>
          <a:xfrm>
            <a:off x="585936" y="560710"/>
            <a:ext cx="1496541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4950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AUTOEVALUACIÓN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96119" y="846088"/>
            <a:ext cx="6726882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Evaluación del Desempeño Personal</a:t>
            </a:r>
            <a:endParaRPr lang="en-US" sz="2750" dirty="0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6119" y="1661145"/>
            <a:ext cx="3902943" cy="280935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749701" y="1643435"/>
            <a:ext cx="2408858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Autoevaluación Global</a:t>
            </a:r>
            <a:endParaRPr lang="en-US" sz="1350" dirty="0"/>
          </a:p>
        </p:txBody>
      </p:sp>
      <p:sp>
        <p:nvSpPr>
          <p:cNvPr id="7" name="Text 4"/>
          <p:cNvSpPr/>
          <p:nvPr/>
        </p:nvSpPr>
        <p:spPr>
          <a:xfrm>
            <a:off x="4749701" y="2006650"/>
            <a:ext cx="4360143" cy="61138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38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8.5 / 10</a:t>
            </a:r>
            <a:endParaRPr lang="en-US" sz="3850" dirty="0"/>
          </a:p>
        </p:txBody>
      </p:sp>
      <p:sp>
        <p:nvSpPr>
          <p:cNvPr id="8" name="Text 5"/>
          <p:cNvSpPr/>
          <p:nvPr/>
        </p:nvSpPr>
        <p:spPr>
          <a:xfrm>
            <a:off x="4749701" y="2759794"/>
            <a:ext cx="3902943" cy="11340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Logré construir un sistema completo y funcional partiendo de cero en tecnologías desconocidas. Los puntos de mejora están principalmente en </a:t>
            </a:r>
            <a:r>
              <a:rPr lang="en-US" sz="1100" b="1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gestión del tiempo</a:t>
            </a: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y preparación previa de herramientas, como tambien en asesorias, investigaciones, apayo de la IA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96119" y="912168"/>
            <a:ext cx="1146944" cy="266402"/>
          </a:xfrm>
          <a:prstGeom prst="roundRect">
            <a:avLst>
              <a:gd name="adj" fmla="val 17880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3" name="Text 1"/>
          <p:cNvSpPr/>
          <p:nvPr/>
        </p:nvSpPr>
        <p:spPr>
          <a:xfrm>
            <a:off x="581174" y="954658"/>
            <a:ext cx="1434033" cy="18142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33000"/>
              </a:lnSpc>
              <a:buNone/>
            </a:pPr>
            <a:r>
              <a:rPr lang="en-US" sz="8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REFLEXIÓN FINAL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496119" y="1235273"/>
            <a:ext cx="7446987" cy="442987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27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Aspectos Destacados y Áreas de Mejora</a:t>
            </a:r>
            <a:endParaRPr lang="en-US" sz="2750" dirty="0"/>
          </a:p>
        </p:txBody>
      </p:sp>
      <p:sp>
        <p:nvSpPr>
          <p:cNvPr id="5" name="Shape 3"/>
          <p:cNvSpPr/>
          <p:nvPr/>
        </p:nvSpPr>
        <p:spPr>
          <a:xfrm>
            <a:off x="394022" y="1890861"/>
            <a:ext cx="4107135" cy="2340471"/>
          </a:xfrm>
          <a:prstGeom prst="roundRect">
            <a:avLst>
              <a:gd name="adj" fmla="val 4361"/>
            </a:avLst>
          </a:prstGeom>
          <a:solidFill>
            <a:srgbClr val="4950BC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6" name="Text 4"/>
          <p:cNvSpPr/>
          <p:nvPr/>
        </p:nvSpPr>
        <p:spPr>
          <a:xfrm>
            <a:off x="535781" y="2032620"/>
            <a:ext cx="2285033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 que más me gustó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35781" y="2395835"/>
            <a:ext cx="3823618" cy="178593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 el sistema funcionar de punta a punta por primera vez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Naturaleza visual de n8n para depurar flujos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Resolver errores reales de Docker en Windows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Comprender el valor real de la automatización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El stack completo: BD, backend, API, frontend e infraestructura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49701" y="2032620"/>
            <a:ext cx="2536850" cy="22145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35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Lo que puede mejorarse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749701" y="2395835"/>
            <a:ext cx="3902943" cy="133230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Autenticación robusta en la web app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Pruebas automatizadas de nodos y webhooks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Escalabilidad: migrar a Kubernetes o BD gestionada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Preparación previa del entorno (evitar OneDrive)</a:t>
            </a:r>
            <a:endParaRPr lang="en-US" sz="1100" dirty="0"/>
          </a:p>
          <a:p>
            <a:pPr marL="342900" indent="-342900" algn="l">
              <a:lnSpc>
                <a:spcPct val="133000"/>
              </a:lnSpc>
              <a:buSzPct val="100000"/>
              <a:buChar char="•"/>
            </a:pPr>
            <a:r>
              <a:rPr lang="en-US" sz="11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Documentación incremental desde el inicio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DADBF1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1509" y="69726"/>
            <a:ext cx="3335982" cy="5003974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25562" y="318269"/>
            <a:ext cx="819671" cy="154409"/>
          </a:xfrm>
          <a:prstGeom prst="roundRect">
            <a:avLst>
              <a:gd name="adj" fmla="val 20245"/>
            </a:avLst>
          </a:prstGeom>
          <a:solidFill>
            <a:srgbClr val="DADBF1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5" name="Text 2"/>
          <p:cNvSpPr/>
          <p:nvPr/>
        </p:nvSpPr>
        <p:spPr>
          <a:xfrm>
            <a:off x="381372" y="346174"/>
            <a:ext cx="1165250" cy="9859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55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EVALUACIÓN FINAL</a:t>
            </a:r>
            <a:endParaRPr lang="en-US" sz="550" dirty="0"/>
          </a:p>
        </p:txBody>
      </p:sp>
      <p:sp>
        <p:nvSpPr>
          <p:cNvPr id="6" name="Text 3"/>
          <p:cNvSpPr/>
          <p:nvPr/>
        </p:nvSpPr>
        <p:spPr>
          <a:xfrm>
            <a:off x="325562" y="497086"/>
            <a:ext cx="4114726" cy="290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l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Evaluación General del Proyecto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325562" y="925860"/>
            <a:ext cx="5063877" cy="307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8.5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2276029" y="1325166"/>
            <a:ext cx="1162869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Nota Final /10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325562" y="1507108"/>
            <a:ext cx="5063877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Evaluación objetiva del proyecto completo</a:t>
            </a:r>
            <a:endParaRPr lang="en-US" sz="700" dirty="0"/>
          </a:p>
        </p:txBody>
      </p:sp>
      <p:sp>
        <p:nvSpPr>
          <p:cNvPr id="10" name="Text 7"/>
          <p:cNvSpPr/>
          <p:nvPr/>
        </p:nvSpPr>
        <p:spPr>
          <a:xfrm>
            <a:off x="325562" y="1798886"/>
            <a:ext cx="5063877" cy="307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5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2276029" y="2198191"/>
            <a:ext cx="1162869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Servicios Docker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325562" y="2380134"/>
            <a:ext cx="5063877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Stack completo en contenedores aislados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5562" y="2671911"/>
            <a:ext cx="5063877" cy="307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8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2276029" y="3071217"/>
            <a:ext cx="1162869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Workflows n8n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325562" y="3253160"/>
            <a:ext cx="5063877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Flujos automatizados funcionando</a:t>
            </a:r>
            <a:endParaRPr lang="en-US" sz="700" dirty="0"/>
          </a:p>
        </p:txBody>
      </p:sp>
      <p:sp>
        <p:nvSpPr>
          <p:cNvPr id="16" name="Text 13"/>
          <p:cNvSpPr/>
          <p:nvPr/>
        </p:nvSpPr>
        <p:spPr>
          <a:xfrm>
            <a:off x="325562" y="3544937"/>
            <a:ext cx="5063877" cy="307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r>
              <a:rPr lang="en-US" sz="24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6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2276029" y="3944243"/>
            <a:ext cx="1162869" cy="14533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900" b="1" dirty="0">
                <a:solidFill>
                  <a:srgbClr val="272525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Tablas PostgreSQL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325562" y="4126185"/>
            <a:ext cx="5063877" cy="12323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10000"/>
              </a:lnSpc>
              <a:buNone/>
            </a:pPr>
            <a:r>
              <a:rPr lang="en-US" sz="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 de datos relacional con vistas e índices</a:t>
            </a:r>
            <a:endParaRPr lang="en-US" sz="700" dirty="0"/>
          </a:p>
        </p:txBody>
      </p:sp>
      <p:sp>
        <p:nvSpPr>
          <p:cNvPr id="19" name="Text 16"/>
          <p:cNvSpPr/>
          <p:nvPr/>
        </p:nvSpPr>
        <p:spPr>
          <a:xfrm>
            <a:off x="465088" y="4386783"/>
            <a:ext cx="4924351" cy="369689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10000"/>
              </a:lnSpc>
              <a:buNone/>
            </a:pPr>
            <a:r>
              <a:rPr lang="en-US" sz="700" dirty="0">
                <a:solidFill>
                  <a:srgbClr val="27252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Este proyecto representó un punto de inflexión en mi formación. Pasé de conocer Docker y n8n solo de nombre a construir un sistema funcional aplicable en un entorno educativo real — un logro del que me siento genuinamente orgulloso.</a:t>
            </a:r>
            <a:endParaRPr lang="en-US" sz="700" dirty="0"/>
          </a:p>
        </p:txBody>
      </p:sp>
      <p:sp>
        <p:nvSpPr>
          <p:cNvPr id="20" name="Shape 17"/>
          <p:cNvSpPr/>
          <p:nvPr/>
        </p:nvSpPr>
        <p:spPr>
          <a:xfrm>
            <a:off x="325562" y="4318099"/>
            <a:ext cx="9525" cy="507057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es-419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6C98A-F457-6301-2C2A-E6D76C4AD5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A087408-F83C-D1E6-2448-4E074ED1BBFE}"/>
              </a:ext>
            </a:extLst>
          </p:cNvPr>
          <p:cNvSpPr/>
          <p:nvPr/>
        </p:nvSpPr>
        <p:spPr>
          <a:xfrm>
            <a:off x="5715000" y="0"/>
            <a:ext cx="3429000" cy="5143500"/>
          </a:xfrm>
          <a:prstGeom prst="rect">
            <a:avLst/>
          </a:prstGeom>
          <a:solidFill>
            <a:srgbClr val="DADBF1"/>
          </a:solidFill>
          <a:ln/>
        </p:spPr>
        <p:txBody>
          <a:bodyPr/>
          <a:lstStyle/>
          <a:p>
            <a:endParaRPr lang="es-419"/>
          </a:p>
        </p:txBody>
      </p:sp>
      <p:pic>
        <p:nvPicPr>
          <p:cNvPr id="3" name="Image 0" descr="preencoded.png">
            <a:extLst>
              <a:ext uri="{FF2B5EF4-FFF2-40B4-BE49-F238E27FC236}">
                <a16:creationId xmlns:a16="http://schemas.microsoft.com/office/drawing/2014/main" id="{81431397-DDCD-7944-27FC-FCEF2BA274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1509" y="69726"/>
            <a:ext cx="3335982" cy="5003974"/>
          </a:xfrm>
          <a:prstGeom prst="rect">
            <a:avLst/>
          </a:prstGeom>
        </p:spPr>
      </p:pic>
      <p:sp>
        <p:nvSpPr>
          <p:cNvPr id="6" name="Text 3">
            <a:extLst>
              <a:ext uri="{FF2B5EF4-FFF2-40B4-BE49-F238E27FC236}">
                <a16:creationId xmlns:a16="http://schemas.microsoft.com/office/drawing/2014/main" id="{68EF81C1-6031-A911-32A9-0CE1AC22C76B}"/>
              </a:ext>
            </a:extLst>
          </p:cNvPr>
          <p:cNvSpPr/>
          <p:nvPr/>
        </p:nvSpPr>
        <p:spPr>
          <a:xfrm>
            <a:off x="823391" y="1517585"/>
            <a:ext cx="4114726" cy="290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GIT</a:t>
            </a:r>
          </a:p>
          <a:p>
            <a:pPr marL="0" indent="0" algn="ctr">
              <a:lnSpc>
                <a:spcPct val="104000"/>
              </a:lnSpc>
              <a:buNone/>
            </a:pPr>
            <a:endParaRPr lang="en-US" sz="1800" dirty="0"/>
          </a:p>
        </p:txBody>
      </p:sp>
      <p:sp>
        <p:nvSpPr>
          <p:cNvPr id="10" name="Text 7">
            <a:extLst>
              <a:ext uri="{FF2B5EF4-FFF2-40B4-BE49-F238E27FC236}">
                <a16:creationId xmlns:a16="http://schemas.microsoft.com/office/drawing/2014/main" id="{4EB09374-4CB2-328F-14C2-A80AC48A4504}"/>
              </a:ext>
            </a:extLst>
          </p:cNvPr>
          <p:cNvSpPr/>
          <p:nvPr/>
        </p:nvSpPr>
        <p:spPr>
          <a:xfrm>
            <a:off x="325562" y="1798886"/>
            <a:ext cx="5063877" cy="307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83000"/>
              </a:lnSpc>
              <a:buNone/>
            </a:pPr>
            <a:endParaRPr lang="en-US" sz="2400" dirty="0"/>
          </a:p>
        </p:txBody>
      </p:sp>
      <p:sp>
        <p:nvSpPr>
          <p:cNvPr id="13" name="Text 10">
            <a:extLst>
              <a:ext uri="{FF2B5EF4-FFF2-40B4-BE49-F238E27FC236}">
                <a16:creationId xmlns:a16="http://schemas.microsoft.com/office/drawing/2014/main" id="{0CB42974-13B3-7D5B-EAB9-054DD389C1C7}"/>
              </a:ext>
            </a:extLst>
          </p:cNvPr>
          <p:cNvSpPr/>
          <p:nvPr/>
        </p:nvSpPr>
        <p:spPr>
          <a:xfrm>
            <a:off x="348816" y="1792911"/>
            <a:ext cx="5063877" cy="307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83000"/>
              </a:lnSpc>
            </a:pPr>
            <a:r>
              <a:rPr lang="es-419" sz="2400" dirty="0" err="1">
                <a:hlinkClick r:id="rId4"/>
              </a:rPr>
              <a:t>AlexPAXL</a:t>
            </a:r>
            <a:r>
              <a:rPr lang="es-419" sz="2400" dirty="0">
                <a:hlinkClick r:id="rId4"/>
              </a:rPr>
              <a:t>/</a:t>
            </a:r>
            <a:r>
              <a:rPr lang="es-419" sz="2400" dirty="0" err="1">
                <a:hlinkClick r:id="rId4"/>
              </a:rPr>
              <a:t>SystemaAuto_Analisisi</a:t>
            </a:r>
            <a:endParaRPr lang="en-US" sz="2400" dirty="0"/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A76C9880-0B3E-0DCB-01E3-0C66DE44291D}"/>
              </a:ext>
            </a:extLst>
          </p:cNvPr>
          <p:cNvSpPr/>
          <p:nvPr/>
        </p:nvSpPr>
        <p:spPr>
          <a:xfrm>
            <a:off x="325562" y="4318099"/>
            <a:ext cx="9525" cy="507057"/>
          </a:xfrm>
          <a:prstGeom prst="rect">
            <a:avLst/>
          </a:prstGeom>
          <a:solidFill>
            <a:srgbClr val="4950BC"/>
          </a:solidFill>
          <a:ln/>
        </p:spPr>
        <p:txBody>
          <a:bodyPr/>
          <a:lstStyle/>
          <a:p>
            <a:endParaRPr lang="es-419"/>
          </a:p>
        </p:txBody>
      </p:sp>
      <p:sp>
        <p:nvSpPr>
          <p:cNvPr id="7" name="Text 10">
            <a:extLst>
              <a:ext uri="{FF2B5EF4-FFF2-40B4-BE49-F238E27FC236}">
                <a16:creationId xmlns:a16="http://schemas.microsoft.com/office/drawing/2014/main" id="{197DC5AF-E245-AB2D-617E-BD03B275EDDA}"/>
              </a:ext>
            </a:extLst>
          </p:cNvPr>
          <p:cNvSpPr/>
          <p:nvPr/>
        </p:nvSpPr>
        <p:spPr>
          <a:xfrm>
            <a:off x="433058" y="2924173"/>
            <a:ext cx="5063877" cy="30703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>
              <a:lnSpc>
                <a:spcPct val="83000"/>
              </a:lnSpc>
            </a:pPr>
            <a:r>
              <a:rPr lang="en-US" sz="1000" dirty="0"/>
              <a:t>https://drive.google.com/drive/folders/19ArpcFN7ufIe_ok2QW3Bgo5tq_Vtecy4?usp=sharing</a:t>
            </a:r>
          </a:p>
        </p:txBody>
      </p:sp>
      <p:sp>
        <p:nvSpPr>
          <p:cNvPr id="8" name="Text 3">
            <a:extLst>
              <a:ext uri="{FF2B5EF4-FFF2-40B4-BE49-F238E27FC236}">
                <a16:creationId xmlns:a16="http://schemas.microsoft.com/office/drawing/2014/main" id="{4403FC88-8F78-0C71-E7E0-F0927329128E}"/>
              </a:ext>
            </a:extLst>
          </p:cNvPr>
          <p:cNvSpPr/>
          <p:nvPr/>
        </p:nvSpPr>
        <p:spPr>
          <a:xfrm>
            <a:off x="800136" y="2476953"/>
            <a:ext cx="4114726" cy="290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marL="0" indent="0" algn="ctr">
              <a:lnSpc>
                <a:spcPct val="104000"/>
              </a:lnSpc>
              <a:buNone/>
            </a:pPr>
            <a:r>
              <a:rPr lang="en-US" sz="1800" b="1" dirty="0">
                <a:solidFill>
                  <a:srgbClr val="000000"/>
                </a:solidFill>
                <a:latin typeface="Inter Bold" pitchFamily="34" charset="0"/>
                <a:ea typeface="Inter Bold" pitchFamily="34" charset="-122"/>
                <a:cs typeface="Inter Bold" pitchFamily="34" charset="-120"/>
              </a:rPr>
              <a:t>RECURSOS</a:t>
            </a:r>
          </a:p>
          <a:p>
            <a:pPr marL="0" indent="0" algn="ctr">
              <a:lnSpc>
                <a:spcPct val="104000"/>
              </a:lnSpc>
              <a:buNone/>
            </a:pPr>
            <a:endParaRPr lang="en-US" sz="1800" dirty="0"/>
          </a:p>
        </p:txBody>
      </p:sp>
    </p:spTree>
    <p:extLst>
      <p:ext uri="{BB962C8B-B14F-4D97-AF65-F5344CB8AC3E}">
        <p14:creationId xmlns:p14="http://schemas.microsoft.com/office/powerpoint/2010/main" val="209929902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777</Words>
  <Application>Microsoft Office PowerPoint</Application>
  <PresentationFormat>Presentación en pantalla (16:9)</PresentationFormat>
  <Paragraphs>131</Paragraphs>
  <Slides>11</Slides>
  <Notes>11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Inter Bold</vt:lpstr>
      <vt:lpstr>Inter</vt:lpstr>
      <vt:lpstr>Arial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lastModifiedBy>Alex P</cp:lastModifiedBy>
  <cp:revision>3</cp:revision>
  <dcterms:created xsi:type="dcterms:W3CDTF">2026-06-03T23:56:31Z</dcterms:created>
  <dcterms:modified xsi:type="dcterms:W3CDTF">2026-06-04T00:34:46Z</dcterms:modified>
</cp:coreProperties>
</file>