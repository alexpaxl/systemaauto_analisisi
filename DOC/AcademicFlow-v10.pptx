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75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6C83E-2251-63D1-B67A-EA653B92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E538E-D7D4-CF12-EBA6-60CFD39DF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177B7-624D-748A-1E2E-0A6F69C74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0A07-7196-F61A-0514-ADDE1E52BC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95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AlexPAXL/SystemaAuto_Analisis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662410"/>
            <a:ext cx="2355354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2"/>
          <p:cNvSpPr/>
          <p:nvPr/>
        </p:nvSpPr>
        <p:spPr>
          <a:xfrm>
            <a:off x="581174" y="1704901"/>
            <a:ext cx="26424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INTEGRADOR · UMG COBÁN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9855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AcademicFlow v1.0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496119" y="2641104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Automatización Académica con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· Docker · PostgreSQL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Wilder Alejandro Poou Xol · Ingeniería en Sistemas ·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25202"/>
            <a:ext cx="1622301" cy="264765"/>
          </a:xfrm>
          <a:prstGeom prst="roundRect">
            <a:avLst>
              <a:gd name="adj" fmla="val 17429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67779" y="471115"/>
            <a:ext cx="1905223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PERSONAL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43173"/>
            <a:ext cx="5960641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¿Quién está detrás del proyecto?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721941"/>
            <a:ext cx="2646164" cy="26461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66579" y="1504801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Perfil del Estudiante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66579" y="1852315"/>
            <a:ext cx="520146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Estudiante de Ingeniería en Sistemas, UMG Campus Cobán, plan fin de semana. Interés en el desarrollo tanto profesional como intelectual, interesado 100% en la tecnología.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66579" y="2634258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Inicial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66579" y="2981771"/>
            <a:ext cx="520146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Conocimientos básicos de SQL, php, C#, Java, GIT, HTML entre otros.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n8n, Docker y contenedores eran completamente nuevos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 inicio del proyecto.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66579" y="3564062"/>
            <a:ext cx="5201469" cy="1004590"/>
          </a:xfrm>
          <a:prstGeom prst="roundRect">
            <a:avLst>
              <a:gd name="adj" fmla="val 574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873" y="3772644"/>
            <a:ext cx="171599" cy="137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2766" y="3731344"/>
            <a:ext cx="4617988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proyecto representó el primer acercamiento formal a automatización de flujos, infraestructura como código y despliegue con Docker.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79599"/>
            <a:ext cx="1826716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2"/>
          <p:cNvSpPr/>
          <p:nvPr/>
        </p:nvSpPr>
        <p:spPr>
          <a:xfrm>
            <a:off x="581174" y="522089"/>
            <a:ext cx="211380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 DEL PROYECTO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8027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problema resuelve AcademicFlow?</a:t>
            </a:r>
            <a:endParaRPr lang="en-US" sz="2750" dirty="0"/>
          </a:p>
        </p:txBody>
      </p:sp>
      <p:sp>
        <p:nvSpPr>
          <p:cNvPr id="7" name="Shape 4"/>
          <p:cNvSpPr/>
          <p:nvPr/>
        </p:nvSpPr>
        <p:spPr>
          <a:xfrm>
            <a:off x="496119" y="1901279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642640" y="20478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Asistencia dispersa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35431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manual en CSV para el cargo de registros sistematizados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869406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/>
          <p:nvPr/>
        </p:nvSpPr>
        <p:spPr>
          <a:xfrm>
            <a:off x="642640" y="30159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 alertas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32243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notificaciones automáticas para calificaciones &lt; 60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83753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1"/>
          <p:cNvSpPr/>
          <p:nvPr/>
        </p:nvSpPr>
        <p:spPr>
          <a:xfrm>
            <a:off x="642640" y="39840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429056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reportes consolidados generados periódicamente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1410816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897210" y="362322"/>
            <a:ext cx="1728267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DEL SISTEMA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44845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 y Flujo Principal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12713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378273"/>
            <a:ext cx="2051000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Flujo de funcionamiento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09071" y="2630835"/>
            <a:ext cx="3612207" cy="882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Font typeface="+mj-lt"/>
              <a:buAutoNum type="arabicPeriod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profesor carga CSV de asistencia desde la web app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Font typeface="+mj-lt"/>
              <a:buAutoNum type="arabicPeriod" startAt="2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valida y procesa datos vía webhook (WF7)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Font typeface="+mj-lt"/>
              <a:buAutoNum type="arabicPeriod" startAt="3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registros se insertan en PostgreSQL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Font typeface="+mj-lt"/>
              <a:buAutoNum type="arabicPeriod" startAt="4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WF3 genera reportes HTML semanales por email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Font typeface="+mj-lt"/>
              <a:buAutoNum type="arabicPeriod" startAt="5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WF4 notifica automáticamente si calificación &lt; 60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30039"/>
            <a:ext cx="1333723" cy="249882"/>
          </a:xfrm>
          <a:prstGeom prst="roundRect">
            <a:avLst>
              <a:gd name="adj" fmla="val 1816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53938" y="470520"/>
            <a:ext cx="1628849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TECNOLÓGICO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31416"/>
            <a:ext cx="678358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Herramientas y Tecnologías Utilizadas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72901" y="1346895"/>
            <a:ext cx="8198197" cy="3010495"/>
          </a:xfrm>
          <a:prstGeom prst="roundRect">
            <a:avLst>
              <a:gd name="adj" fmla="val 188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477664" y="1351657"/>
            <a:ext cx="8188672" cy="3751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612800" y="1433661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Tecnología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1738" y="1433661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443" y="1433661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en el proyecto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664" y="1726778"/>
            <a:ext cx="8188672" cy="3751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612800" y="1808783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71738" y="1808783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443" y="1808783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workflows automatizados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664" y="2101900"/>
            <a:ext cx="8188672" cy="3751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612800" y="2183904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71738" y="2183904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443" y="2183904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Orquestación de 5 servicios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7664" y="2477021"/>
            <a:ext cx="8188672" cy="3751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12800" y="2559025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71738" y="2559025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15-alpine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443" y="2559025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tablas, 3 vistas, índices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664" y="2852142"/>
            <a:ext cx="8188672" cy="3751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612800" y="2934146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71738" y="2934146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443" y="2934146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inverso + servidor web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7664" y="3227263"/>
            <a:ext cx="8188672" cy="3751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7" name="Text 25"/>
          <p:cNvSpPr/>
          <p:nvPr/>
        </p:nvSpPr>
        <p:spPr>
          <a:xfrm>
            <a:off x="612800" y="3309268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Mailhog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71738" y="3309268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v1.0.1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443" y="3309268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SMTP local para pruebas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664" y="3602385"/>
            <a:ext cx="8188672" cy="3751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Text 29"/>
          <p:cNvSpPr/>
          <p:nvPr/>
        </p:nvSpPr>
        <p:spPr>
          <a:xfrm>
            <a:off x="612800" y="3684389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/ CSS3 / JS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71738" y="3684389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ES2022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09443" y="3684389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 sin frameworks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664" y="3977506"/>
            <a:ext cx="8188672" cy="3751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5" name="Text 33"/>
          <p:cNvSpPr/>
          <p:nvPr/>
        </p:nvSpPr>
        <p:spPr>
          <a:xfrm>
            <a:off x="612800" y="4059510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71738" y="4059510"/>
            <a:ext cx="182001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09443" y="4059510"/>
            <a:ext cx="427903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de versiones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901" y="4502274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Recursos: documentación oficial de n8n, Docker, PostgreSQL 15; Stack Overflow; principios 12-Factor App.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65075"/>
            <a:ext cx="1581373" cy="222349"/>
          </a:xfrm>
          <a:prstGeom prst="roundRect">
            <a:avLst>
              <a:gd name="adj" fmla="val 18076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21717" y="405705"/>
            <a:ext cx="188557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DE DESARROLLO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27757"/>
            <a:ext cx="406226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Las 4 Fases del Proyecto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4564782" y="1152897"/>
            <a:ext cx="14288" cy="2878038"/>
          </a:xfrm>
          <a:prstGeom prst="roundRect">
            <a:avLst>
              <a:gd name="adj" fmla="val 35161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4092848" y="1280294"/>
            <a:ext cx="358825" cy="14288"/>
          </a:xfrm>
          <a:prstGeom prst="roundRect">
            <a:avLst>
              <a:gd name="adj" fmla="val 35161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4437385" y="1152897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482219" y="1175333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78658" y="119397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1 — Semana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5219" y="1441326"/>
            <a:ext cx="352864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Planificación y diseño de arquitectura. Investigación de n8n, Docker Compose y base de datos.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92179" y="1960513"/>
            <a:ext cx="358825" cy="14288"/>
          </a:xfrm>
          <a:prstGeom prst="roundRect">
            <a:avLst>
              <a:gd name="adj" fmla="val 35161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4437385" y="1833116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4482219" y="1855552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9991" y="1874193"/>
            <a:ext cx="166285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2 — Semanas 2-3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69991" y="2121545"/>
            <a:ext cx="35287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del entorno. La fase más frustrante: errores de Docker en Windows + OneDrive.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92848" y="2560365"/>
            <a:ext cx="358825" cy="14288"/>
          </a:xfrm>
          <a:prstGeom prst="roundRect">
            <a:avLst>
              <a:gd name="adj" fmla="val 35161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Shape 15"/>
          <p:cNvSpPr/>
          <p:nvPr/>
        </p:nvSpPr>
        <p:spPr>
          <a:xfrm>
            <a:off x="4437385" y="2432968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4482219" y="2455404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00883" y="2474044"/>
            <a:ext cx="167297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3 — Semanas 3-4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5219" y="2721397"/>
            <a:ext cx="352864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 de los 8 workflows en n8n. Primer email en Mailhog: momento clave.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92179" y="3160291"/>
            <a:ext cx="358825" cy="14288"/>
          </a:xfrm>
          <a:prstGeom prst="roundRect">
            <a:avLst>
              <a:gd name="adj" fmla="val 351616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2" name="Shape 20"/>
          <p:cNvSpPr/>
          <p:nvPr/>
        </p:nvSpPr>
        <p:spPr>
          <a:xfrm>
            <a:off x="4437385" y="3032894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4482219" y="3055330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9991" y="3073971"/>
            <a:ext cx="167401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4 — Semanas 4-5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69991" y="3321323"/>
            <a:ext cx="35287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web app + n8n vía webhooks. Pruebas end-to-end exitosas.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5219" y="4144417"/>
            <a:ext cx="8253487" cy="634008"/>
          </a:xfrm>
          <a:prstGeom prst="roundRect">
            <a:avLst>
              <a:gd name="adj" fmla="val 7924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03" y="4317727"/>
            <a:ext cx="149498" cy="11958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33884" y="4275162"/>
            <a:ext cx="774523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Lección clave: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Windows, los proyectos Docker </a:t>
            </a: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deben estar en carpetas sincronizadas con OneDrive. Genera problemas de permisos y bind mounts muy difíciles de diagnosticar.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87" y="92943"/>
            <a:ext cx="3305026" cy="495753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4132" y="510480"/>
            <a:ext cx="1486942" cy="223317"/>
          </a:xfrm>
          <a:prstGeom prst="roundRect">
            <a:avLst>
              <a:gd name="adj" fmla="val 1866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2"/>
          <p:cNvSpPr/>
          <p:nvPr/>
        </p:nvSpPr>
        <p:spPr>
          <a:xfrm>
            <a:off x="508546" y="547688"/>
            <a:ext cx="179531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APRENDIZAJES OBTENIDOS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34132" y="777180"/>
            <a:ext cx="52936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aprendí en este proyecto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844" y="1327472"/>
            <a:ext cx="4861024" cy="1803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255" y="146573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Técnicos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15255" y="1724695"/>
            <a:ext cx="4527352" cy="126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Contenedores Docker: redes internas, volúmenes persistentes, diferencias con VMs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n8n: workflows con triggers, nodos IF, consultas SQL y envío de emails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PostgreSQL: esquema relacional con 6 tablas, vistas e índices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de entorno: secretos en .env, nunca hardcodeados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Webhooks, APIs REST y nginx como proxy inverso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844" y="3239467"/>
            <a:ext cx="4861024" cy="13934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5255" y="337772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Técnicos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5255" y="3636690"/>
            <a:ext cx="4527352" cy="8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sistemático: leer logs y encontrar causa raíz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Paciencia y persistencia ante errores complejos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técnica como herramienta de trabajo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versiones con Git y Conventional Commits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3457"/>
            <a:ext cx="1218977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85936" y="560710"/>
            <a:ext cx="149654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AUTOEVALUACIÓN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6088"/>
            <a:ext cx="67268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del Desempeño Personal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61145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3435"/>
            <a:ext cx="24088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Autoevaluación Global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006650"/>
            <a:ext cx="436014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7.6 / 10</a:t>
            </a:r>
            <a:endParaRPr lang="en-US" sz="3850" dirty="0"/>
          </a:p>
        </p:txBody>
      </p:sp>
      <p:sp>
        <p:nvSpPr>
          <p:cNvPr id="8" name="Text 5"/>
          <p:cNvSpPr/>
          <p:nvPr/>
        </p:nvSpPr>
        <p:spPr>
          <a:xfrm>
            <a:off x="4749701" y="2759794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Logré construir un sistema completo y funcional partiendo de cero en tecnologías desconocidas. Los puntos de mejora están principalmente en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del tiempo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preparación previa de herramientas, como tambien en asesorias, investigaciones, apayo de la IA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12168"/>
            <a:ext cx="1146944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81174" y="954658"/>
            <a:ext cx="14340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REFLEXIÓN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35273"/>
            <a:ext cx="74469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Aspectos Destacados y Áreas de Mejora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890861"/>
            <a:ext cx="4107135" cy="2340471"/>
          </a:xfrm>
          <a:prstGeom prst="roundRect">
            <a:avLst>
              <a:gd name="adj" fmla="val 436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535781" y="2032620"/>
            <a:ext cx="22850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más me gustó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395835"/>
            <a:ext cx="3823618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el sistema funcionar de punta a punta por primera vez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Naturaleza visual de n8n para depurar flujos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Resolver errores reales de Docker en Windows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Comprender el valor real de la automatización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stack completo: BD, backend, API, frontend e infraestructura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032620"/>
            <a:ext cx="25368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puede mejorarse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395835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robusta en la web app (JWT / IdP)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Pruebas automatizadas de nodos y webhooks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Escalabilidad: migrar a Kubernetes o BD gestionada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 previa del entorno (evitar OneDrive)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incremental desde el inicio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509" y="69726"/>
            <a:ext cx="3335982" cy="50039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5562" y="318269"/>
            <a:ext cx="819671" cy="154409"/>
          </a:xfrm>
          <a:prstGeom prst="roundRect">
            <a:avLst>
              <a:gd name="adj" fmla="val 2024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2"/>
          <p:cNvSpPr/>
          <p:nvPr/>
        </p:nvSpPr>
        <p:spPr>
          <a:xfrm>
            <a:off x="381372" y="346174"/>
            <a:ext cx="1165250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FINAL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25562" y="497086"/>
            <a:ext cx="411472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Evaluación General del Proyecto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5562" y="925860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76029" y="1325166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Nota Final /10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5562" y="1507108"/>
            <a:ext cx="50638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objetiva del proyecto completo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25562" y="1798886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276029" y="219819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Servicios Docker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5562" y="2380134"/>
            <a:ext cx="50638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completo en contenedores aislados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5562" y="2671911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276029" y="307121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Workflows n8n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5562" y="3253160"/>
            <a:ext cx="50638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Flujos automatizados funcionando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25562" y="3544937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276029" y="394424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Tablas PostgreSQL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5562" y="4126185"/>
            <a:ext cx="50638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datos relacional con vistas e índices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65088" y="4386783"/>
            <a:ext cx="4924351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proyecto representó un punto de inflexión en mi formación. Pasé de conocer Docker y n8n solo de nombre a construir un sistema funcional aplicable en un entorno educativo real — un logro del que me siento genuinamente orgulloso.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325562" y="4318099"/>
            <a:ext cx="9525" cy="50705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C98A-F457-6301-2C2A-E6D76C4A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087408-F83C-D1E6-2448-4E074ED1BBFE}"/>
              </a:ext>
            </a:extLst>
          </p:cNvPr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1431397-DDCD-7944-27FC-FCEF2BA2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509" y="69726"/>
            <a:ext cx="3335982" cy="5003974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8EF81C1-6031-A911-32A9-0CE1AC22C76B}"/>
              </a:ext>
            </a:extLst>
          </p:cNvPr>
          <p:cNvSpPr/>
          <p:nvPr/>
        </p:nvSpPr>
        <p:spPr>
          <a:xfrm>
            <a:off x="800137" y="2301966"/>
            <a:ext cx="411472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</a:t>
            </a:r>
          </a:p>
          <a:p>
            <a:pPr marL="0" indent="0" algn="ctr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B09374-4CB2-328F-14C2-A80AC48A4504}"/>
              </a:ext>
            </a:extLst>
          </p:cNvPr>
          <p:cNvSpPr/>
          <p:nvPr/>
        </p:nvSpPr>
        <p:spPr>
          <a:xfrm>
            <a:off x="325562" y="1798886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endParaRPr lang="en-US" sz="2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CB42974-13B3-7D5B-EAB9-054DD389C1C7}"/>
              </a:ext>
            </a:extLst>
          </p:cNvPr>
          <p:cNvSpPr/>
          <p:nvPr/>
        </p:nvSpPr>
        <p:spPr>
          <a:xfrm>
            <a:off x="325562" y="2671911"/>
            <a:ext cx="5063877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s-419" sz="2400" dirty="0" err="1">
                <a:hlinkClick r:id="rId4"/>
              </a:rPr>
              <a:t>AlexPAXL</a:t>
            </a:r>
            <a:r>
              <a:rPr lang="es-419" sz="2400" dirty="0">
                <a:hlinkClick r:id="rId4"/>
              </a:rPr>
              <a:t>/</a:t>
            </a:r>
            <a:r>
              <a:rPr lang="es-419" sz="2400" dirty="0" err="1">
                <a:hlinkClick r:id="rId4"/>
              </a:rPr>
              <a:t>SystemaAuto_Analisisi</a:t>
            </a:r>
            <a:endParaRPr lang="en-US" sz="2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76C9880-0B3E-0DCB-01E3-0C66DE44291D}"/>
              </a:ext>
            </a:extLst>
          </p:cNvPr>
          <p:cNvSpPr/>
          <p:nvPr/>
        </p:nvSpPr>
        <p:spPr>
          <a:xfrm>
            <a:off x="325562" y="4318099"/>
            <a:ext cx="9525" cy="507057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9929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760</Words>
  <Application>Microsoft Office PowerPoint</Application>
  <PresentationFormat>Presentación en pantalla (16:9)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Inter Bold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Alex P</cp:lastModifiedBy>
  <cp:revision>2</cp:revision>
  <dcterms:created xsi:type="dcterms:W3CDTF">2026-06-03T23:56:31Z</dcterms:created>
  <dcterms:modified xsi:type="dcterms:W3CDTF">2026-06-04T00:08:03Z</dcterms:modified>
</cp:coreProperties>
</file>